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24307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108960" cy="3108960"/>
          </a:xfrm>
          <a:prstGeom prst="ellipse">
            <a:avLst/>
          </a:prstGeom>
          <a:solidFill>
            <a:srgbClr val="243073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777240" cy="7772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" name="Image 0" descr="/tmp/claude-0/-home-user-agiri1397/70224f66-6765-5ad1-bef3-721deeb4f88d/scratchpad/deck/icons/landmar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880110"/>
            <a:ext cx="388620" cy="3886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7132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DE FOMENTO MUNICIPAL · INFOM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3317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1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22960" y="333756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al Proyecto y Conceptos Generales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APP e Inteligencia Artificial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868680" y="4892040"/>
            <a:ext cx="0" cy="0"/>
          </a:xfrm>
          <a:prstGeom prst="line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822960" y="507492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tecnológica de Inteligencia Artificial para el fortalecimiento</a:t>
            </a:r>
            <a:endParaRPr lang="en-US" sz="1350" dirty="0"/>
          </a:p>
          <a:p>
            <a:pPr indent="0" marL="0">
              <a:buNone/>
            </a:pPr>
            <a:r>
              <a:rPr lang="en-US" sz="135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Alianzas Público-Privadas municipales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del módulo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3291840" cy="466344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1600200" y="2148840"/>
            <a:ext cx="1371600" cy="13716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" name="Image 0" descr="/tmp/claude-0/-home-user-agiri1397/70224f66-6765-5ad1-bef3-721deeb4f88d/scratchpad/deck/icons/bullsey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8236" y="2436876"/>
            <a:ext cx="795528" cy="7955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3794760"/>
            <a:ext cx="2651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propósito central del módulo introductorio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206240" y="1508760"/>
            <a:ext cx="7223760" cy="4663440"/>
          </a:xfrm>
          <a:prstGeom prst="roundRect">
            <a:avLst>
              <a:gd name="adj" fmla="val 2353"/>
            </a:avLst>
          </a:prstGeom>
          <a:solidFill>
            <a:srgbClr val="F3F6FC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0" y="1874520"/>
            <a:ext cx="6492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Brindar a los participantes una visión general del proyecto, su propósito y el papel que desempeña la Inteligencia Artificial como herramienta de apoyo para el fortalecimiento de las Alianzas Público-Privadas (APP) Municipales.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4572000" y="3794760"/>
            <a:ext cx="6492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permitirá a los participantes comprender el alcance de la plataforma y su aplicación en los procesos institucionales del Instituto de Fomento Municipal (INFOM) y las municipalidades.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INFOM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específicos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este módulo, el participante será capaz de: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3F6FC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2402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tmp/claude-0/-home-user-agiri1397/70224f66-6765-5ad1-bef3-721deeb4f88d/scratchpad/deck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" y="239115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2128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 el alcance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874520" y="2670048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objetivos y el alcance general del proyecto.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35040" y="192024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3F6FC"/>
          </a:solidFill>
          <a:ln/>
        </p:spPr>
      </p:sp>
      <p:sp>
        <p:nvSpPr>
          <p:cNvPr id="10" name="Shape 7"/>
          <p:cNvSpPr/>
          <p:nvPr/>
        </p:nvSpPr>
        <p:spPr>
          <a:xfrm>
            <a:off x="6355080" y="22402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tmp/claude-0/-home-user-agiri1397/70224f66-6765-5ad1-bef3-721deeb4f88d/scratchpad/deck/icons/lightbulb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956" y="239115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2128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beneficios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269480" y="2670048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principales beneficios de la plataforma para la gestión municipal.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16052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3F6FC"/>
          </a:solidFill>
          <a:ln/>
        </p:spPr>
      </p:sp>
      <p:sp>
        <p:nvSpPr>
          <p:cNvPr id="15" name="Shape 11"/>
          <p:cNvSpPr/>
          <p:nvPr/>
        </p:nvSpPr>
        <p:spPr>
          <a:xfrm>
            <a:off x="960120" y="44805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tmp/claude-0/-home-user-agiri1397/70224f66-6765-5ad1-bef3-721deeb4f88d/scratchpad/deck/icons/bra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" y="463143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4531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el papel de la IA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874520" y="4910328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herramienta de apoyo en la consulta normativa y generación de documentos.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035040" y="416052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3F6FC"/>
          </a:solidFill>
          <a:ln/>
        </p:spPr>
      </p:sp>
      <p:sp>
        <p:nvSpPr>
          <p:cNvPr id="20" name="Shape 15"/>
          <p:cNvSpPr/>
          <p:nvPr/>
        </p:nvSpPr>
        <p:spPr>
          <a:xfrm>
            <a:off x="6355080" y="44805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tmp/claude-0/-home-user-agiri1397/70224f66-6765-5ad1-bef3-721deeb4f88d/scratchpad/deck/icons/layerGrou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956" y="463143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4531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Familiarizarse con la solución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269480" y="4910328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componentes principales de la solución tecnológica.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INFOM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Introducción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6766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fortalecimiento de la gestión municipal </a:t>
            </a:r>
            <a:pPr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herramientas tecnológicas que permitan optimizar los procesos administrativos, facilitar el acceso a la información y apoyar la toma de decisiones basada en evidencia y normativa vigente.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40080" y="2971800"/>
            <a:ext cx="6766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INFOM </a:t>
            </a:r>
            <a:pPr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 el desarrollo de una plataforma tecnológica basada en Inteligencia Artificial, orientada a apoyar a las municipalidades en la elaboración y fortalecimiento de reglamentos relacionados con las Alianzas Público-Privadas (APP).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40080" y="4526280"/>
            <a:ext cx="6766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integra herramientas para el diagnóstico institucional, la clasificación municipal, la consulta del cuerpo legal y la generación asistida de documentos, mejorando la eficiencia y reduciendo los tiempos de elaboración.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726680" y="1417320"/>
            <a:ext cx="3794760" cy="4709160"/>
          </a:xfrm>
          <a:prstGeom prst="roundRect">
            <a:avLst>
              <a:gd name="adj" fmla="val 2892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8092440" y="178308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8" name="Image 0" descr="/tmp/claude-0/-home-user-agiri1397/70224f66-6765-5ad1-bef3-721deeb4f88d/scratchpad/deck/icons/city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7164" y="1907804"/>
            <a:ext cx="317480" cy="317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823960" y="178308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Municipalidades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092440" y="2862072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1" name="Image 1" descr="/tmp/claude-0/-home-user-agiri1397/70224f66-6765-5ad1-bef3-721deeb4f88d/scratchpad/deck/icons/bookOpe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7164" y="2986796"/>
            <a:ext cx="317480" cy="317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823960" y="286207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Cuerpo legal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092440" y="3941064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4" name="Image 2" descr="/tmp/claude-0/-home-user-agiri1397/70224f66-6765-5ad1-bef3-721deeb4f88d/scratchpad/deck/icons/robo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7164" y="4065788"/>
            <a:ext cx="317480" cy="317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823960" y="3941064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8092440" y="5020056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7" name="Image 3" descr="/tmp/claude-0/-home-user-agiri1397/70224f66-6765-5ad1-bef3-721deeb4f88d/scratchpad/deck/icons/fileAl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7164" y="5144780"/>
            <a:ext cx="317480" cy="317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823960" y="502005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documentos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INFOM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AD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960120" cy="9601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tmp/claude-0/-home-user-agiri1397/70224f66-6765-5ad1-bef3-721deeb4f88d/scratchpad/deck/icons/handshak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306" y="851306"/>
            <a:ext cx="537667" cy="5376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621792"/>
            <a:ext cx="9509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son las Alianzas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Público-Privadas (APP)?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965960"/>
            <a:ext cx="108813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2194560"/>
            <a:ext cx="10149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mecanismos de cooperación entre el sector público y el sector privado para el desarrollo, financiamiento, operación o mantenimiento de infraestructura y servicios públicos, mediante la distribución de responsabilidades y riesgos entre las partes involucradas.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4069080"/>
            <a:ext cx="108813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4297680"/>
            <a:ext cx="10149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Fortalecen la capacidad institucional para desarrollar proyectos que contribuyan al bienestar de la población, promoviendo la inversión, la innovación y una gestión más eficiente de los recursos públicos.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INFOM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960120" cy="9601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/tmp/claude-0/-home-user-agiri1397/70224f66-6765-5ad1-bef3-721deeb4f88d/scratchpad/deck/icons/brai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306" y="851306"/>
            <a:ext cx="537667" cy="5376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777240"/>
            <a:ext cx="9509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la Inteligencia Artificial?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1965960"/>
            <a:ext cx="5212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Inteligencia Artificial (IA) es una tecnología que permite a los sistemas informáticos analizar información, reconocer patrones, generar contenido y asistir a las personas en la realización de diferentes tareas.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4297680"/>
            <a:ext cx="5212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esta plataforma, la IA actúa como un asistente especializado que facilita la consulta de información normativa, apoya la generación de documentos y orienta al usuario durante la utilización del sistema.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17920" y="1965960"/>
            <a:ext cx="5303520" cy="4343400"/>
          </a:xfrm>
          <a:prstGeom prst="roundRect">
            <a:avLst>
              <a:gd name="adj" fmla="val 2526"/>
            </a:avLst>
          </a:prstGeom>
          <a:solidFill>
            <a:srgbClr val="283580"/>
          </a:solidFill>
          <a:ln/>
        </p:spPr>
      </p:sp>
      <p:sp>
        <p:nvSpPr>
          <p:cNvPr id="8" name="Shape 5"/>
          <p:cNvSpPr/>
          <p:nvPr/>
        </p:nvSpPr>
        <p:spPr>
          <a:xfrm>
            <a:off x="6629400" y="2331720"/>
            <a:ext cx="685800" cy="6858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9" name="Image 1" descr="/tmp/claude-0/-home-user-agiri1397/70224f66-6765-5ad1-bef3-721deeb4f88d/scratchpad/deck/icons/shieldAl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276" y="2482596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52360" y="2377440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asistente con base normativa validada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629400" y="3246120"/>
            <a:ext cx="45720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i="1" dirty="0">
                <a:solidFill>
                  <a:srgbClr val="CF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funcionamiento se basa en información previamente validada por el INFOM, garantizando que las respuestas y documentos generados se fundamenten en el cuerpo legal y documental autorizado.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INFOM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Componentes principales de la plataforma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3327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Diez componentes integrados apoyan el fortalecimiento institucional de las municipalidades.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084832" cy="2148840"/>
          </a:xfrm>
          <a:prstGeom prst="roundRect">
            <a:avLst>
              <a:gd name="adj" fmla="val 4386"/>
            </a:avLst>
          </a:prstGeom>
          <a:solidFill>
            <a:srgbClr val="F3F6FC"/>
          </a:solidFill>
          <a:ln/>
        </p:spPr>
      </p:sp>
      <p:sp>
        <p:nvSpPr>
          <p:cNvPr id="5" name="Shape 3"/>
          <p:cNvSpPr/>
          <p:nvPr/>
        </p:nvSpPr>
        <p:spPr>
          <a:xfrm>
            <a:off x="1385316" y="185623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tmp/claude-0/-home-user-agiri1397/70224f66-6765-5ad1-bef3-721deeb4f88d/scratchpad/deck/icons/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6075" y="19869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560320"/>
            <a:ext cx="18653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usuarios y roles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862072" y="1600200"/>
            <a:ext cx="2084832" cy="2148840"/>
          </a:xfrm>
          <a:prstGeom prst="roundRect">
            <a:avLst>
              <a:gd name="adj" fmla="val 4386"/>
            </a:avLst>
          </a:prstGeom>
          <a:solidFill>
            <a:srgbClr val="F3F6FC"/>
          </a:solidFill>
          <a:ln/>
        </p:spPr>
      </p:sp>
      <p:sp>
        <p:nvSpPr>
          <p:cNvPr id="9" name="Shape 6"/>
          <p:cNvSpPr/>
          <p:nvPr/>
        </p:nvSpPr>
        <p:spPr>
          <a:xfrm>
            <a:off x="3607308" y="185623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tmp/claude-0/-home-user-agiri1397/70224f66-6765-5ad1-bef3-721deeb4f88d/scratchpad/deck/icons/cit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067" y="1986991"/>
            <a:ext cx="332842" cy="3328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71800" y="2560320"/>
            <a:ext cx="18653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y administración de municipalidades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084064" y="1600200"/>
            <a:ext cx="2084832" cy="2148840"/>
          </a:xfrm>
          <a:prstGeom prst="roundRect">
            <a:avLst>
              <a:gd name="adj" fmla="val 4386"/>
            </a:avLst>
          </a:prstGeom>
          <a:solidFill>
            <a:srgbClr val="F3F6FC"/>
          </a:solidFill>
          <a:ln/>
        </p:spPr>
      </p:sp>
      <p:sp>
        <p:nvSpPr>
          <p:cNvPr id="13" name="Shape 9"/>
          <p:cNvSpPr/>
          <p:nvPr/>
        </p:nvSpPr>
        <p:spPr>
          <a:xfrm>
            <a:off x="5829300" y="185623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tmp/claude-0/-home-user-agiri1397/70224f66-6765-5ad1-bef3-721deeb4f88d/scratchpad/deck/icons/clipboard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059" y="1986991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93792" y="2560320"/>
            <a:ext cx="18653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institucional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306056" y="1600200"/>
            <a:ext cx="2084832" cy="2148840"/>
          </a:xfrm>
          <a:prstGeom prst="roundRect">
            <a:avLst>
              <a:gd name="adj" fmla="val 4386"/>
            </a:avLst>
          </a:prstGeom>
          <a:solidFill>
            <a:srgbClr val="F3F6FC"/>
          </a:solidFill>
          <a:ln/>
        </p:spPr>
      </p:sp>
      <p:sp>
        <p:nvSpPr>
          <p:cNvPr id="17" name="Shape 12"/>
          <p:cNvSpPr/>
          <p:nvPr/>
        </p:nvSpPr>
        <p:spPr>
          <a:xfrm>
            <a:off x="8051292" y="185623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/tmp/claude-0/-home-user-agiri1397/70224f66-6765-5ad1-bef3-721deeb4f88d/scratchpad/deck/icons/layerGrou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2051" y="1986991"/>
            <a:ext cx="332842" cy="33284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15784" y="2560320"/>
            <a:ext cx="18653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municipal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9528048" y="1600200"/>
            <a:ext cx="2084832" cy="2148840"/>
          </a:xfrm>
          <a:prstGeom prst="roundRect">
            <a:avLst>
              <a:gd name="adj" fmla="val 4386"/>
            </a:avLst>
          </a:prstGeom>
          <a:solidFill>
            <a:srgbClr val="F3F6FC"/>
          </a:solidFill>
          <a:ln/>
        </p:spPr>
      </p:sp>
      <p:sp>
        <p:nvSpPr>
          <p:cNvPr id="21" name="Shape 15"/>
          <p:cNvSpPr/>
          <p:nvPr/>
        </p:nvSpPr>
        <p:spPr>
          <a:xfrm>
            <a:off x="10273284" y="185623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/tmp/claude-0/-home-user-agiri1397/70224f66-6765-5ad1-bef3-721deeb4f88d/scratchpad/deck/icons/bookOpe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4043" y="1986991"/>
            <a:ext cx="332842" cy="33284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637776" y="2560320"/>
            <a:ext cx="18653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del cuerpo legal y documental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40080" y="3977640"/>
            <a:ext cx="2084832" cy="2148840"/>
          </a:xfrm>
          <a:prstGeom prst="roundRect">
            <a:avLst>
              <a:gd name="adj" fmla="val 4386"/>
            </a:avLst>
          </a:prstGeom>
          <a:solidFill>
            <a:srgbClr val="F3F6FC"/>
          </a:solidFill>
          <a:ln/>
        </p:spPr>
      </p:sp>
      <p:sp>
        <p:nvSpPr>
          <p:cNvPr id="25" name="Shape 18"/>
          <p:cNvSpPr/>
          <p:nvPr/>
        </p:nvSpPr>
        <p:spPr>
          <a:xfrm>
            <a:off x="1385316" y="423367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5" descr="/tmp/claude-0/-home-user-agiri1397/70224f66-6765-5ad1-bef3-721deeb4f88d/scratchpad/deck/icons/robo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6075" y="4364431"/>
            <a:ext cx="332842" cy="33284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49808" y="4937760"/>
            <a:ext cx="18653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Inteligente para consultas especializadas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2862072" y="3977640"/>
            <a:ext cx="2084832" cy="2148840"/>
          </a:xfrm>
          <a:prstGeom prst="roundRect">
            <a:avLst>
              <a:gd name="adj" fmla="val 4386"/>
            </a:avLst>
          </a:prstGeom>
          <a:solidFill>
            <a:srgbClr val="F3F6FC"/>
          </a:solidFill>
          <a:ln/>
        </p:spPr>
      </p:sp>
      <p:sp>
        <p:nvSpPr>
          <p:cNvPr id="29" name="Shape 21"/>
          <p:cNvSpPr/>
          <p:nvPr/>
        </p:nvSpPr>
        <p:spPr>
          <a:xfrm>
            <a:off x="3607308" y="423367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6" descr="/tmp/claude-0/-home-user-agiri1397/70224f66-6765-5ad1-bef3-721deeb4f88d/scratchpad/deck/icons/fileAlt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8067" y="4364431"/>
            <a:ext cx="332842" cy="33284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2971800" y="4937760"/>
            <a:ext cx="18653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automatizada de reglamentos y documentos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5084064" y="3977640"/>
            <a:ext cx="2084832" cy="2148840"/>
          </a:xfrm>
          <a:prstGeom prst="roundRect">
            <a:avLst>
              <a:gd name="adj" fmla="val 4386"/>
            </a:avLst>
          </a:prstGeom>
          <a:solidFill>
            <a:srgbClr val="F3F6FC"/>
          </a:solidFill>
          <a:ln/>
        </p:spPr>
      </p:sp>
      <p:sp>
        <p:nvSpPr>
          <p:cNvPr id="33" name="Shape 24"/>
          <p:cNvSpPr/>
          <p:nvPr/>
        </p:nvSpPr>
        <p:spPr>
          <a:xfrm>
            <a:off x="5829300" y="423367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4" name="Image 7" descr="/tmp/claude-0/-home-user-agiri1397/70224f66-6765-5ad1-bef3-721deeb4f88d/scratchpad/deck/icons/chartBar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0059" y="4364431"/>
            <a:ext cx="332842" cy="33284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193792" y="4937760"/>
            <a:ext cx="18653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e indicadores</a:t>
            </a:r>
            <a:endParaRPr lang="en-US" sz="1100" dirty="0"/>
          </a:p>
        </p:txBody>
      </p:sp>
      <p:sp>
        <p:nvSpPr>
          <p:cNvPr id="36" name="Shape 26"/>
          <p:cNvSpPr/>
          <p:nvPr/>
        </p:nvSpPr>
        <p:spPr>
          <a:xfrm>
            <a:off x="7306056" y="3977640"/>
            <a:ext cx="2084832" cy="2148840"/>
          </a:xfrm>
          <a:prstGeom prst="roundRect">
            <a:avLst>
              <a:gd name="adj" fmla="val 4386"/>
            </a:avLst>
          </a:prstGeom>
          <a:solidFill>
            <a:srgbClr val="F3F6FC"/>
          </a:solidFill>
          <a:ln/>
        </p:spPr>
      </p:sp>
      <p:sp>
        <p:nvSpPr>
          <p:cNvPr id="37" name="Shape 27"/>
          <p:cNvSpPr/>
          <p:nvPr/>
        </p:nvSpPr>
        <p:spPr>
          <a:xfrm>
            <a:off x="8051292" y="423367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8" name="Image 8" descr="/tmp/claude-0/-home-user-agiri1397/70224f66-6765-5ad1-bef3-721deeb4f88d/scratchpad/deck/icons/graduationCap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82051" y="4364431"/>
            <a:ext cx="332842" cy="332842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7415784" y="4937760"/>
            <a:ext cx="18653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educativo</a:t>
            </a:r>
            <a:endParaRPr lang="en-US" sz="1100" dirty="0"/>
          </a:p>
        </p:txBody>
      </p:sp>
      <p:sp>
        <p:nvSpPr>
          <p:cNvPr id="40" name="Shape 29"/>
          <p:cNvSpPr/>
          <p:nvPr/>
        </p:nvSpPr>
        <p:spPr>
          <a:xfrm>
            <a:off x="9528048" y="3977640"/>
            <a:ext cx="2084832" cy="2148840"/>
          </a:xfrm>
          <a:prstGeom prst="roundRect">
            <a:avLst>
              <a:gd name="adj" fmla="val 4386"/>
            </a:avLst>
          </a:prstGeom>
          <a:solidFill>
            <a:srgbClr val="F3F6FC"/>
          </a:solidFill>
          <a:ln/>
        </p:spPr>
      </p:sp>
      <p:sp>
        <p:nvSpPr>
          <p:cNvPr id="41" name="Shape 30"/>
          <p:cNvSpPr/>
          <p:nvPr/>
        </p:nvSpPr>
        <p:spPr>
          <a:xfrm>
            <a:off x="10273284" y="423367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2" name="Image 9" descr="/tmp/claude-0/-home-user-agiri1397/70224f66-6765-5ad1-bef3-721deeb4f88d/scratchpad/deck/icons/shieldAlt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04043" y="4364431"/>
            <a:ext cx="332842" cy="332842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9637776" y="4937760"/>
            <a:ext cx="18653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y auditoría</a:t>
            </a:r>
            <a:endParaRPr lang="en-US" sz="1100" dirty="0"/>
          </a:p>
        </p:txBody>
      </p:sp>
      <p:sp>
        <p:nvSpPr>
          <p:cNvPr id="44" name="Text 32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INFOM</a:t>
            </a:r>
            <a:endParaRPr lang="en-US" sz="900" dirty="0"/>
          </a:p>
        </p:txBody>
      </p:sp>
      <p:sp>
        <p:nvSpPr>
          <p:cNvPr id="45" name="Text 33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Beneficios de la plataforma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implementación de la plataforma permitirá: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42516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/tmp/claude-0/-home-user-agiri1397/70224f66-6765-5ad1-bef3-721deeb4f88d/scratchpad/deck/icons/databas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404" y="1967240"/>
            <a:ext cx="317480" cy="31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09928"/>
            <a:ext cx="4069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Centralizar la información institucional en un único sistema.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72200" y="1600200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0" y="1842516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0" name="Image 1" descr="/tmp/claude-0/-home-user-agiri1397/70224f66-6765-5ad1-bef3-721deeb4f88d/scratchpad/deck/icons/bol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524" y="1967240"/>
            <a:ext cx="317480" cy="317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32320" y="1709928"/>
            <a:ext cx="4069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Agilizar los procesos de diagnóstico y clasificación municipal.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2834640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868680" y="3076956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4" name="Image 2" descr="/tmp/claude-0/-home-user-agiri1397/70224f66-6765-5ad1-bef3-721deeb4f88d/scratchpad/deck/icons/balanceScal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404" y="3201680"/>
            <a:ext cx="317480" cy="317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2944368"/>
            <a:ext cx="4069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Facilitar la consulta del marco legal vigente.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172200" y="2834640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</p:sp>
      <p:sp>
        <p:nvSpPr>
          <p:cNvPr id="17" name="Shape 12"/>
          <p:cNvSpPr/>
          <p:nvPr/>
        </p:nvSpPr>
        <p:spPr>
          <a:xfrm>
            <a:off x="6400800" y="3076956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8" name="Image 3" descr="/tmp/claude-0/-home-user-agiri1397/70224f66-6765-5ad1-bef3-721deeb4f88d/scratchpad/deck/icons/clo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5524" y="3201680"/>
            <a:ext cx="317480" cy="317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32320" y="2944368"/>
            <a:ext cx="4069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el tiempo requerido para elaborar reglamentos y documentos técnicos.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40080" y="4069080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</p:sp>
      <p:sp>
        <p:nvSpPr>
          <p:cNvPr id="21" name="Shape 15"/>
          <p:cNvSpPr/>
          <p:nvPr/>
        </p:nvSpPr>
        <p:spPr>
          <a:xfrm>
            <a:off x="868680" y="4311396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2" name="Image 4" descr="/tmp/claude-0/-home-user-agiri1397/70224f66-6765-5ad1-bef3-721deeb4f88d/scratchpad/deck/icons/checkDoubl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404" y="4436120"/>
            <a:ext cx="317480" cy="317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00200" y="4178808"/>
            <a:ext cx="4069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 la calidad y consistencia de la documentación generada.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172200" y="4069080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</p:sp>
      <p:sp>
        <p:nvSpPr>
          <p:cNvPr id="25" name="Shape 18"/>
          <p:cNvSpPr/>
          <p:nvPr/>
        </p:nvSpPr>
        <p:spPr>
          <a:xfrm>
            <a:off x="6400800" y="4311396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6" name="Image 5" descr="/tmp/claude-0/-home-user-agiri1397/70224f66-6765-5ad1-bef3-721deeb4f88d/scratchpad/deck/icons/lightbulb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5524" y="4436120"/>
            <a:ext cx="317480" cy="3174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132320" y="4178808"/>
            <a:ext cx="4069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Fortalecer la toma de decisiones mediante información organizada y actualizada.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640080" y="5303520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</p:sp>
      <p:sp>
        <p:nvSpPr>
          <p:cNvPr id="29" name="Shape 21"/>
          <p:cNvSpPr/>
          <p:nvPr/>
        </p:nvSpPr>
        <p:spPr>
          <a:xfrm>
            <a:off x="868680" y="5545836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0" name="Image 6" descr="/tmp/claude-0/-home-user-agiri1397/70224f66-6765-5ad1-bef3-721deeb4f88d/scratchpad/deck/icons/chalkboardTeacher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404" y="5670560"/>
            <a:ext cx="317480" cy="31748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600200" y="5413248"/>
            <a:ext cx="4069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Promover la capacitación continua mediante el módulo educativo integrado.</a:t>
            </a:r>
            <a:endParaRPr lang="en-US" sz="1250" dirty="0"/>
          </a:p>
        </p:txBody>
      </p:sp>
      <p:sp>
        <p:nvSpPr>
          <p:cNvPr id="32" name="Text 23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INFOM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914400" cy="9144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/tmp/claude-0/-home-user-agiri1397/70224f66-6765-5ad1-bef3-721deeb4f88d/scratchpad/deck/icons/clipboardLis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841248"/>
            <a:ext cx="512064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Actividad de aprendizaje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actividad inicial, se solicitará a los participantes responder un breve cuestionario diagnóstico para identificar su nivel de conocimiento sobre: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278892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283580"/>
          </a:solidFill>
          <a:ln/>
        </p:spPr>
      </p:sp>
      <p:sp>
        <p:nvSpPr>
          <p:cNvPr id="7" name="Shape 4"/>
          <p:cNvSpPr/>
          <p:nvPr/>
        </p:nvSpPr>
        <p:spPr>
          <a:xfrm>
            <a:off x="1508760" y="3108960"/>
            <a:ext cx="777240" cy="7772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8" name="Image 1" descr="/tmp/claude-0/-home-user-agiri1397/70224f66-6765-5ad1-bef3-721deeb4f88d/scratchpad/deck/icons/handshak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753" y="3279953"/>
            <a:ext cx="435254" cy="43525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40690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Alianzas Público-Privadas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3429000" y="278892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283580"/>
          </a:solidFill>
          <a:ln/>
        </p:spPr>
      </p:sp>
      <p:sp>
        <p:nvSpPr>
          <p:cNvPr id="11" name="Shape 7"/>
          <p:cNvSpPr/>
          <p:nvPr/>
        </p:nvSpPr>
        <p:spPr>
          <a:xfrm>
            <a:off x="4297680" y="3108960"/>
            <a:ext cx="777240" cy="7772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2" name="Image 2" descr="/tmp/claude-0/-home-user-agiri1397/70224f66-6765-5ad1-bef3-721deeb4f88d/scratchpad/deck/icons/city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673" y="3279953"/>
            <a:ext cx="435254" cy="43525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66160" y="40690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municipal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6217920" y="278892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283580"/>
          </a:solidFill>
          <a:ln/>
        </p:spPr>
      </p:sp>
      <p:sp>
        <p:nvSpPr>
          <p:cNvPr id="15" name="Shape 10"/>
          <p:cNvSpPr/>
          <p:nvPr/>
        </p:nvSpPr>
        <p:spPr>
          <a:xfrm>
            <a:off x="7086600" y="3108960"/>
            <a:ext cx="777240" cy="7772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6" name="Image 3" descr="/tmp/claude-0/-home-user-agiri1397/70224f66-6765-5ad1-bef3-721deeb4f88d/scratchpad/deck/icons/brain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7593" y="3279953"/>
            <a:ext cx="435254" cy="43525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55080" y="40690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9006840" y="278892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283580"/>
          </a:solidFill>
          <a:ln/>
        </p:spPr>
      </p:sp>
      <p:sp>
        <p:nvSpPr>
          <p:cNvPr id="19" name="Shape 13"/>
          <p:cNvSpPr/>
          <p:nvPr/>
        </p:nvSpPr>
        <p:spPr>
          <a:xfrm>
            <a:off x="9875520" y="3108960"/>
            <a:ext cx="777240" cy="7772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0" name="Image 4" descr="/tmp/claude-0/-home-user-agiri1397/70224f66-6765-5ad1-bef3-721deeb4f88d/scratchpad/deck/icons/laptop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6513" y="3279953"/>
            <a:ext cx="435254" cy="43525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144000" y="40690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plataformas tecnológicas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640080" y="5349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resultados servirán como referencia para orientar el proceso de aprendizaje durante el curso.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INFOM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del módulo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926080" cy="4572000"/>
          </a:xfrm>
          <a:prstGeom prst="roundRect">
            <a:avLst>
              <a:gd name="adj" fmla="val 3750"/>
            </a:avLst>
          </a:prstGeom>
          <a:solidFill>
            <a:srgbClr val="F3F6FC"/>
          </a:solidFill>
          <a:ln/>
        </p:spPr>
      </p:sp>
      <p:sp>
        <p:nvSpPr>
          <p:cNvPr id="4" name="Shape 2"/>
          <p:cNvSpPr/>
          <p:nvPr/>
        </p:nvSpPr>
        <p:spPr>
          <a:xfrm>
            <a:off x="1417320" y="2103120"/>
            <a:ext cx="1325880" cy="13258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tmp/claude-0/-home-user-agiri1397/70224f66-6765-5ad1-bef3-721deeb4f88d/scratchpad/deck/icons/bookRead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9014" y="2394814"/>
            <a:ext cx="742493" cy="7424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370332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conceptual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los siguientes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del curso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794760" y="1554480"/>
            <a:ext cx="7726680" cy="4572000"/>
          </a:xfrm>
          <a:prstGeom prst="roundRect">
            <a:avLst>
              <a:gd name="adj" fmla="val 2400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4206240" y="1965960"/>
            <a:ext cx="6949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módulo se presentó una visión general del proyecto y de la plataforma tecnológica, destacando la importancia de las Alianzas Público-Privadas y el papel de la Inteligencia Artificial como herramienta de apoyo para la consulta de información, el fortalecimiento institucional y la generación de documentos.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206240" y="4343400"/>
            <a:ext cx="6949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i="1" dirty="0">
                <a:solidFill>
                  <a:srgbClr val="CF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Estos conceptos constituyen la base para comprender el funcionamiento de los módulos que se abordarán en las siguientes unidades del curso.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INFOM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206240"/>
            <a:ext cx="4754880" cy="4754880"/>
          </a:xfrm>
          <a:prstGeom prst="ellipse">
            <a:avLst/>
          </a:prstGeom>
          <a:solidFill>
            <a:srgbClr val="243073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31520"/>
            <a:ext cx="1005840" cy="10058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" name="Image 0" descr="/tmp/claude-0/-home-user-agiri1397/70224f66-6765-5ad1-bef3-721deeb4f88d/scratchpad/deck/icons/clipboardChe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952805"/>
            <a:ext cx="563270" cy="5632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57400" y="868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 del módulo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2148840"/>
            <a:ext cx="9966960" cy="1600200"/>
          </a:xfrm>
          <a:prstGeom prst="roundRect">
            <a:avLst>
              <a:gd name="adj" fmla="val 6857"/>
            </a:avLst>
          </a:prstGeom>
          <a:solidFill>
            <a:srgbClr val="283580"/>
          </a:solidFill>
          <a:ln/>
        </p:spPr>
      </p:sp>
      <p:sp>
        <p:nvSpPr>
          <p:cNvPr id="7" name="Shape 4"/>
          <p:cNvSpPr/>
          <p:nvPr/>
        </p:nvSpPr>
        <p:spPr>
          <a:xfrm>
            <a:off x="1143000" y="2423160"/>
            <a:ext cx="594360" cy="5943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8" name="Image 1" descr="/tmp/claude-0/-home-user-agiri1397/70224f66-6765-5ad1-bef3-721deeb4f88d/scratchpad/deck/icons/checkCircl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759" y="2553919"/>
            <a:ext cx="332842" cy="3328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2395728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conocimientos básicos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965960" y="2816352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participantes deberán completar una evaluación que verifica la comprensión de los conceptos abordados en el módulo.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22960" y="3977640"/>
            <a:ext cx="9966960" cy="2148840"/>
          </a:xfrm>
          <a:prstGeom prst="roundRect">
            <a:avLst>
              <a:gd name="adj" fmla="val 5106"/>
            </a:avLst>
          </a:prstGeom>
          <a:solidFill>
            <a:srgbClr val="283580"/>
          </a:solidFill>
          <a:ln/>
        </p:spPr>
      </p:sp>
      <p:sp>
        <p:nvSpPr>
          <p:cNvPr id="12" name="Shape 8"/>
          <p:cNvSpPr/>
          <p:nvPr/>
        </p:nvSpPr>
        <p:spPr>
          <a:xfrm>
            <a:off x="1143000" y="4251960"/>
            <a:ext cx="594360" cy="5943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3" name="Image 2" descr="/tmp/claude-0/-home-user-agiri1397/70224f66-6765-5ad1-bef3-721deeb4f88d/scratchpad/deck/icons/lightbulb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759" y="4382719"/>
            <a:ext cx="332842" cy="33284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965960" y="4224528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de reflexión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965960" y="4645152"/>
            <a:ext cx="8503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un ejercicio de reflexión sobre las oportunidades que ofrece la Inteligencia Artificial para mejorar los procesos de gestión municipal y la elaboración de reglamentos.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INFOM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2026-07-22T22:07:32Z</dcterms:created>
  <dcterms:modified xsi:type="dcterms:W3CDTF">2026-07-22T22:07:32Z</dcterms:modified>
</cp:coreProperties>
</file>